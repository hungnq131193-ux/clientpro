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54864"/>
          </a:xfrm>
          <a:prstGeom prst="rect">
            <a:avLst/>
          </a:prstGeom>
          <a:solidFill>
            <a:srgbClr val="DA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</a:rPr>
              <a:t>ClientPro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BFD7EE"/>
                </a:solidFill>
              </a:rPr>
              <a:t>Ứng dụng quản lý khách hàng &amp; tài sản bảo đảm trên di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HƯỚNG DẪN NGUYÊN LÝ HOẠT ĐỘNG &amp; CÁCH SỬ DỤNG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FB8D0"/>
                </a:solidFill>
              </a:rPr>
              <a:t>Kèm ảnh minh họa từng bước — Tháng 07/2026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2A4A"/>
                </a:solidFill>
              </a:rPr>
              <a:t>Nội dung trình bày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74066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Phần 1 — Tổng quan: </a:t>
            </a:r>
            <a:r>
              <a:rPr sz="1500" b="0">
                <a:solidFill>
                  <a:srgbClr val="28303C"/>
                </a:solidFill>
              </a:rPr>
              <a:t>ClientPro là gì, các tính năng chính.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Phần 2 — Nguyên lý hoạt động: </a:t>
            </a:r>
            <a:r>
              <a:rPr sz="1500" b="0">
                <a:solidFill>
                  <a:srgbClr val="28303C"/>
                </a:solidFill>
              </a:rPr>
              <a:t>kiến trúc PWA, lưu trữ cục bộ, mã hóa dữ liệu, kích hoạt thiết bị, sao lưu.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Phần 3 — Hướng dẫn sử dụng: </a:t>
            </a:r>
            <a:r>
              <a:rPr sz="1500" b="0">
                <a:solidFill>
                  <a:srgbClr val="28303C"/>
                </a:solidFill>
              </a:rPr>
              <a:t>15 bước thao tác từ kích hoạt lần đầu đến chụp ảnh, tài sản bảo đảm, tham khảo giá và chuyển backup — kèm ảnh minh họa.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Phần 4 — </a:t>
            </a:r>
            <a:r>
              <a:rPr sz="1500" b="0">
                <a:solidFill>
                  <a:srgbClr val="28303C"/>
                </a:solidFill>
              </a:rPr>
              <a:t>Câu hỏi thường gặp và lưu ý an toàn dữ liệu.</a:t>
            </a:r>
          </a:p>
        </p:txBody>
      </p:sp>
      <p:pic>
        <p:nvPicPr>
          <p:cNvPr id="6" name="Picture 5" descr="04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072" y="411480"/>
            <a:ext cx="2788703" cy="6035040"/>
          </a:xfrm>
          <a:prstGeom prst="rect">
            <a:avLst/>
          </a:prstGeom>
          <a:ln w="12700">
            <a:solidFill>
              <a:srgbClr val="C9D6E4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2A4A"/>
                </a:solidFill>
              </a:rPr>
              <a:t>ClientPro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74066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Web app dạng PWA: </a:t>
            </a:r>
            <a:r>
              <a:rPr sz="1500" b="0">
                <a:solidFill>
                  <a:srgbClr val="28303C"/>
                </a:solidFill>
              </a:rPr>
              <a:t>chạy trên trình duyệt, cài lên màn hình chính như app thật, dùng được khi mất mạng.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Quản lý khách hàng vay: </a:t>
            </a:r>
            <a:r>
              <a:rPr sz="1500" b="0">
                <a:solidFill>
                  <a:srgbClr val="28303C"/>
                </a:solidFill>
              </a:rPr>
              <a:t>hồ sơ, trạng thái thẩm định/đã duyệt, ảnh giấy tờ, tài sản bảo đảm.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Dữ liệu 100% trên thiết bị: </a:t>
            </a:r>
            <a:r>
              <a:rPr sz="1500" b="0">
                <a:solidFill>
                  <a:srgbClr val="28303C"/>
                </a:solidFill>
              </a:rPr>
              <a:t>không lưu máy chủ; được mã hóa và khóa bằng PIN/Face ID.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Sao lưu linh hoạt: </a:t>
            </a:r>
            <a:r>
              <a:rPr sz="1500" b="0">
                <a:solidFill>
                  <a:srgbClr val="28303C"/>
                </a:solidFill>
              </a:rPr>
              <a:t>file .cpb, Google Drive cá nhân tự động, chuyển máy qua cloud.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Tiện ích: </a:t>
            </a:r>
            <a:r>
              <a:rPr sz="1500" b="0">
                <a:solidFill>
                  <a:srgbClr val="28303C"/>
                </a:solidFill>
              </a:rPr>
              <a:t>bản đồ + chỉ đường, camera trong app, thời tiết, nhiều bộ giao diện.</a:t>
            </a:r>
          </a:p>
        </p:txBody>
      </p:sp>
      <p:pic>
        <p:nvPicPr>
          <p:cNvPr id="6" name="Picture 5" descr="04b_t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072" y="411480"/>
            <a:ext cx="2788703" cy="6035040"/>
          </a:xfrm>
          <a:prstGeom prst="rect">
            <a:avLst/>
          </a:prstGeom>
          <a:ln w="12700">
            <a:solidFill>
              <a:srgbClr val="C9D6E4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2A4A"/>
                </a:solidFill>
              </a:rPr>
              <a:t>Nguyên lý hoạt động — Kiến trúc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74066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Ứng dụng tĩnh thuần: </a:t>
            </a:r>
            <a:r>
              <a:rPr sz="1500" b="0">
                <a:solidFill>
                  <a:srgbClr val="28303C"/>
                </a:solidFill>
              </a:rPr>
              <a:t>HTML + vanilla JavaScript, không cần máy chủ ứng dụng; deploy trên Vercel.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IndexedDB “QLKH_Pro_V4”: </a:t>
            </a:r>
            <a:r>
              <a:rPr sz="1500" b="0">
                <a:solidFill>
                  <a:srgbClr val="28303C"/>
                </a:solidFill>
              </a:rPr>
              <a:t>3 kho dữ liệu — customers (hồ sơ), images (ảnh), backups (bản sao lưu mã hóa).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Service Worker: </a:t>
            </a:r>
            <a:r>
              <a:rPr sz="1500" b="0">
                <a:solidFill>
                  <a:srgbClr val="28303C"/>
                </a:solidFill>
              </a:rPr>
              <a:t>precache app shell + cache runtime → mở app tức thì, chạy ngoại tuyến, tự cập nhật phiên bản mới.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Máy chủ quản trị Google Apps Script: </a:t>
            </a:r>
            <a:r>
              <a:rPr sz="1500" b="0">
                <a:solidFill>
                  <a:srgbClr val="28303C"/>
                </a:solidFill>
              </a:rPr>
              <a:t>cấp key kích hoạt, kiểm soát thiết bị, cấp khóa mã hóa backup, trung chuyển dữ liệu.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Bản đồ MapLibre GL: </a:t>
            </a:r>
            <a:r>
              <a:rPr sz="1500" b="0">
                <a:solidFill>
                  <a:srgbClr val="28303C"/>
                </a:solidFill>
              </a:rPr>
              <a:t>lớp bản đồ tối / vệ tinh, chỉ đường qua OSRM; thời tiết Open-Meteo.</a:t>
            </a:r>
          </a:p>
        </p:txBody>
      </p:sp>
      <p:pic>
        <p:nvPicPr>
          <p:cNvPr id="6" name="Picture 5" descr="09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072" y="411480"/>
            <a:ext cx="2788703" cy="6035040"/>
          </a:xfrm>
          <a:prstGeom prst="rect">
            <a:avLst/>
          </a:prstGeom>
          <a:ln w="12700">
            <a:solidFill>
              <a:srgbClr val="C9D6E4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2A4A"/>
                </a:solidFill>
              </a:rPr>
              <a:t>Nguyên lý hoạt động — Bảo mật &amp; mã hóa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74066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Khóa chủ (masterKey): </a:t>
            </a:r>
            <a:r>
              <a:rPr sz="1500" b="0">
                <a:solidFill>
                  <a:srgbClr val="28303C"/>
                </a:solidFill>
              </a:rPr>
              <a:t>sinh ngẫu nhiên lần đầu, dùng mã hóa AES toàn bộ dữ liệu khách hàng trước khi ghi xuống máy.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Niêm phong 2 lớp: </a:t>
            </a:r>
            <a:r>
              <a:rPr sz="1500" b="0">
                <a:solidFill>
                  <a:srgbClr val="28303C"/>
                </a:solidFill>
              </a:rPr>
              <a:t>masterKey được khóa bằng PBKDF2 + AES-GCM với 2 bí mật: mã PIN 6 số (hằng ngày) và mã nhân viên (khôi phục).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Mở khóa: </a:t>
            </a:r>
            <a:r>
              <a:rPr sz="1500" b="0">
                <a:solidFill>
                  <a:srgbClr val="28303C"/>
                </a:solidFill>
              </a:rPr>
              <a:t>đúng PIN → mở niêm phong lấy masterKey → giải mã dữ liệu; sai nhiều lần bị tạm khóa.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Sinh trắc học: </a:t>
            </a:r>
            <a:r>
              <a:rPr sz="1500" b="0">
                <a:solidFill>
                  <a:srgbClr val="28303C"/>
                </a:solidFill>
              </a:rPr>
              <a:t>Face ID / vân tay qua WebAuthn (PRF) thay cho nhập PIN.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Auth Gate: </a:t>
            </a:r>
            <a:r>
              <a:rPr sz="1500" b="0">
                <a:solidFill>
                  <a:srgbClr val="28303C"/>
                </a:solidFill>
              </a:rPr>
              <a:t>kiểm tra ngầm với máy chủ (hiệu lực key, đúng thiết bị), nhớ kết quả 24h; offline vẫn dùng được app.</a:t>
            </a:r>
          </a:p>
        </p:txBody>
      </p:sp>
      <p:pic>
        <p:nvPicPr>
          <p:cNvPr id="6" name="Picture 5" descr="03_lock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072" y="411480"/>
            <a:ext cx="2788703" cy="6035040"/>
          </a:xfrm>
          <a:prstGeom prst="rect">
            <a:avLst/>
          </a:prstGeom>
          <a:ln w="12700">
            <a:solidFill>
              <a:srgbClr val="C9D6E4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2A4A"/>
                </a:solidFill>
              </a:rPr>
              <a:t>Nguyên lý hoạt động — Sao lưu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74066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Vì sao phải sao lưu? </a:t>
            </a:r>
            <a:r>
              <a:rPr sz="1500" b="0">
                <a:solidFill>
                  <a:srgbClr val="28303C"/>
                </a:solidFill>
              </a:rPr>
              <a:t>Dữ liệu nằm trên thiết bị — mất máy / xóa app đồng nghĩa mất dữ liệu nếu chưa backup.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Mã hóa AES-GCM: </a:t>
            </a:r>
            <a:r>
              <a:rPr sz="1500" b="0">
                <a:solidFill>
                  <a:srgbClr val="28303C"/>
                </a:solidFill>
              </a:rPr>
              <a:t>mọi bản sao lưu được mã hóa bằng khóa KDATA do máy chủ cấp riêng cho từng nhân viên.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3 tầng sao lưu: </a:t>
            </a:r>
            <a:r>
              <a:rPr sz="1500" b="0">
                <a:solidFill>
                  <a:srgbClr val="28303C"/>
                </a:solidFill>
              </a:rPr>
              <a:t>trong máy / xuất file .cpb → Google Drive cá nhân (tự động hằng ngày, giữ 3 bản) → chuyển giữa thiết bị qua cloud.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Khôi phục: </a:t>
            </a:r>
            <a:r>
              <a:rPr sz="1500" b="0">
                <a:solidFill>
                  <a:srgbClr val="28303C"/>
                </a:solidFill>
              </a:rPr>
              <a:t>nhập file .cpb hoặc tải bản backup từ Drive về máy mới.</a:t>
            </a:r>
          </a:p>
        </p:txBody>
      </p:sp>
      <p:pic>
        <p:nvPicPr>
          <p:cNvPr id="6" name="Picture 5" descr="11_backup_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072" y="411480"/>
            <a:ext cx="2788703" cy="6035040"/>
          </a:xfrm>
          <a:prstGeom prst="rect">
            <a:avLst/>
          </a:prstGeom>
          <a:ln w="12700">
            <a:solidFill>
              <a:srgbClr val="C9D6E4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777240" cy="777240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38912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2A4A"/>
                </a:solidFill>
              </a:rPr>
              <a:t>Kích hoạt thiết bị lần đầu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74066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0">
                <a:solidFill>
                  <a:srgbClr val="28303C"/>
                </a:solidFill>
              </a:rPr>
              <a:t>Mở app lần đầu → màn hình “Kích hoạt Thiết bị”.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Nhập Mã kích hoạt (KEY) </a:t>
            </a:r>
            <a:r>
              <a:rPr sz="1500" b="0">
                <a:solidFill>
                  <a:srgbClr val="28303C"/>
                </a:solidFill>
              </a:rPr>
              <a:t>do quản trị viên cấp.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Nhập Mã nhân viên </a:t>
            </a:r>
            <a:r>
              <a:rPr sz="1500" b="0">
                <a:solidFill>
                  <a:srgbClr val="28303C"/>
                </a:solidFill>
              </a:rPr>
              <a:t>— định danh của bạn, dùng xác thực &amp; khôi phục.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0">
                <a:solidFill>
                  <a:srgbClr val="28303C"/>
                </a:solidFill>
              </a:rPr>
              <a:t>Nhấn KÍCH HOẠT để xác thực với máy chủ và gắn key với thiết bị.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806440"/>
            <a:ext cx="7406640" cy="685800"/>
          </a:xfrm>
          <a:prstGeom prst="rect">
            <a:avLst/>
          </a:prstGeom>
          <a:solidFill>
            <a:srgbClr val="EF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64008"/>
          <a:lstStyle/>
          <a:p>
            <a:pPr algn="ctr"/>
            <a:r>
              <a:rPr sz="1250" i="1">
                <a:solidFill>
                  <a:srgbClr val="555D6B"/>
                </a:solidFill>
              </a:rPr>
              <a:t>💡 Mỗi key gắn với một thiết bị. Đổi máy cần liên hệ quản trị viên.</a:t>
            </a:r>
          </a:p>
        </p:txBody>
      </p:sp>
      <p:pic>
        <p:nvPicPr>
          <p:cNvPr id="8" name="Picture 7" descr="01_act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072" y="411480"/>
            <a:ext cx="2788703" cy="6035040"/>
          </a:xfrm>
          <a:prstGeom prst="rect">
            <a:avLst/>
          </a:prstGeom>
          <a:ln w="12700">
            <a:solidFill>
              <a:srgbClr val="C9D6E4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777240" cy="777240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38912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2A4A"/>
                </a:solidFill>
              </a:rPr>
              <a:t>Thiết lập mã PIN bảo mật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74066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Mã PIN mới (6 số): </a:t>
            </a:r>
            <a:r>
              <a:rPr sz="1500" b="0">
                <a:solidFill>
                  <a:srgbClr val="28303C"/>
                </a:solidFill>
              </a:rPr>
              <a:t>dùng mở khóa app hằng ngày.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Mã nhân viên: </a:t>
            </a:r>
            <a:r>
              <a:rPr sz="1500" b="0">
                <a:solidFill>
                  <a:srgbClr val="28303C"/>
                </a:solidFill>
              </a:rPr>
              <a:t>chìa khóa dự phòng khi quên PIN — nhập chính xác!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0">
                <a:solidFill>
                  <a:srgbClr val="28303C"/>
                </a:solidFill>
              </a:rPr>
              <a:t>Nhấn LƯU &amp; KÍCH HOẠT — khóa mã hóa dữ liệu được sinh và niêm phong bằng PIN.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806440"/>
            <a:ext cx="7406640" cy="685800"/>
          </a:xfrm>
          <a:prstGeom prst="rect">
            <a:avLst/>
          </a:prstGeom>
          <a:solidFill>
            <a:srgbClr val="EF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64008"/>
          <a:lstStyle/>
          <a:p>
            <a:pPr algn="ctr"/>
            <a:r>
              <a:rPr sz="1250" i="1">
                <a:solidFill>
                  <a:srgbClr val="555D6B"/>
                </a:solidFill>
              </a:rPr>
              <a:t>💡 PIN không lưu dạng thô: chỉ dùng để niêm phong khóa mã hóa (PBKDF2 + AES-GCM).</a:t>
            </a:r>
          </a:p>
        </p:txBody>
      </p:sp>
      <p:pic>
        <p:nvPicPr>
          <p:cNvPr id="8" name="Picture 7" descr="02_setup_p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072" y="411480"/>
            <a:ext cx="2788703" cy="6035040"/>
          </a:xfrm>
          <a:prstGeom prst="rect">
            <a:avLst/>
          </a:prstGeom>
          <a:ln w="12700">
            <a:solidFill>
              <a:srgbClr val="C9D6E4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777240" cy="777240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38912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2A4A"/>
                </a:solidFill>
              </a:rPr>
              <a:t>Mở khóa ứng dụng hằng ngày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74066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0">
                <a:solidFill>
                  <a:srgbClr val="28303C"/>
                </a:solidFill>
              </a:rPr>
              <a:t>Mỗi lần mở app → nhập mã PIN 6 số trên bàn phím số.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0">
                <a:solidFill>
                  <a:srgbClr val="28303C"/>
                </a:solidFill>
              </a:rPr>
              <a:t>Có thể bật Face ID / vân tay trong Menu → Bảo mật.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Quên PIN? </a:t>
            </a:r>
            <a:r>
              <a:rPr sz="1500" b="0">
                <a:solidFill>
                  <a:srgbClr val="28303C"/>
                </a:solidFill>
              </a:rPr>
              <a:t>Nhấn “Quên mã PIN?” và nhập mã nhân viên để đặt lại.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0">
                <a:solidFill>
                  <a:srgbClr val="28303C"/>
                </a:solidFill>
              </a:rPr>
              <a:t>Nhập sai nhiều lần sẽ tạm khóa vài phút để chống dò mã.</a:t>
            </a:r>
          </a:p>
        </p:txBody>
      </p:sp>
      <p:pic>
        <p:nvPicPr>
          <p:cNvPr id="7" name="Picture 6" descr="03_lock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072" y="411480"/>
            <a:ext cx="2788703" cy="6035040"/>
          </a:xfrm>
          <a:prstGeom prst="rect">
            <a:avLst/>
          </a:prstGeom>
          <a:ln w="12700">
            <a:solidFill>
              <a:srgbClr val="C9D6E4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777240" cy="777240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38912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2A4A"/>
                </a:solidFill>
              </a:rPr>
              <a:t>Màn hình chính (Dashboard)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74066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Khối thống kê: </a:t>
            </a:r>
            <a:r>
              <a:rPr sz="1500" b="0">
                <a:solidFill>
                  <a:srgbClr val="28303C"/>
                </a:solidFill>
              </a:rPr>
              <a:t>Tổng hồ sơ, Tài sản bảo đảm, KH đã vay, KH đang thẩm định — chạm để mở danh sách.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Thao tác nhanh: </a:t>
            </a:r>
            <a:r>
              <a:rPr sz="1500" b="0">
                <a:solidFill>
                  <a:srgbClr val="28303C"/>
                </a:solidFill>
              </a:rPr>
              <a:t>Thêm khách hàng • Bản đồ • Sao lưu &amp; khôi phục • Cài đặt Google Drive.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Thanh trên cùng: </a:t>
            </a:r>
            <a:r>
              <a:rPr sz="1500" b="0">
                <a:solidFill>
                  <a:srgbClr val="28303C"/>
                </a:solidFill>
              </a:rPr>
              <a:t>thời tiết theo GPS và nút Menu cài đặt.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0">
                <a:solidFill>
                  <a:srgbClr val="28303C"/>
                </a:solidFill>
              </a:rPr>
              <a:t>Lần đầu vào app có tour hướng dẫn từng khu vực (có thể Bỏ qua).</a:t>
            </a:r>
          </a:p>
        </p:txBody>
      </p:sp>
      <p:pic>
        <p:nvPicPr>
          <p:cNvPr id="7" name="Picture 6" descr="04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072" y="411480"/>
            <a:ext cx="2788703" cy="6035040"/>
          </a:xfrm>
          <a:prstGeom prst="rect">
            <a:avLst/>
          </a:prstGeom>
          <a:ln w="12700">
            <a:solidFill>
              <a:srgbClr val="C9D6E4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777240" cy="777240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38912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2A4A"/>
                </a:solidFill>
              </a:rPr>
              <a:t>Thêm khách hàng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74066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0">
                <a:solidFill>
                  <a:srgbClr val="28303C"/>
                </a:solidFill>
              </a:rPr>
              <a:t>Nhấn “Thêm khách hàng” ở Thao tác nhanh (hoặc nút + trong danh sách).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0">
                <a:solidFill>
                  <a:srgbClr val="28303C"/>
                </a:solidFill>
              </a:rPr>
              <a:t>Điền Tên khách hàng, Số điện thoại, CCCD/CMND.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0">
                <a:solidFill>
                  <a:srgbClr val="28303C"/>
                </a:solidFill>
              </a:rPr>
              <a:t>Nhấn “Lưu Hồ Sơ” → hồ sơ tạo với trạng thái “Đang thẩm định” và mở ngay màn chi tiết.</a:t>
            </a:r>
          </a:p>
        </p:txBody>
      </p:sp>
      <p:pic>
        <p:nvPicPr>
          <p:cNvPr id="7" name="Picture 6" descr="05_add_custo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072" y="411480"/>
            <a:ext cx="2788703" cy="6035040"/>
          </a:xfrm>
          <a:prstGeom prst="rect">
            <a:avLst/>
          </a:prstGeom>
          <a:ln w="12700">
            <a:solidFill>
              <a:srgbClr val="C9D6E4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777240" cy="777240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38912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2A4A"/>
                </a:solidFill>
              </a:rPr>
              <a:t>Danh sách khách hàng &amp; tìm kiếm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74066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Nhãn trạng thái: </a:t>
            </a:r>
            <a:r>
              <a:rPr sz="1500" b="0">
                <a:solidFill>
                  <a:srgbClr val="28303C"/>
                </a:solidFill>
              </a:rPr>
              <a:t>vàng = Đang thẩm định, xanh = Đã duyệt vay.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0">
                <a:solidFill>
                  <a:srgbClr val="28303C"/>
                </a:solidFill>
              </a:rPr>
              <a:t>Ô “Tìm kiếm hồ sơ...” lọc ngay khi gõ tên/SĐT.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0">
                <a:solidFill>
                  <a:srgbClr val="28303C"/>
                </a:solidFill>
              </a:rPr>
              <a:t>Bộ đếm Tổng hồ sơ / Đã vay / Thẩm định giúp lọc nhanh theo trạng thái.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0">
                <a:solidFill>
                  <a:srgbClr val="28303C"/>
                </a:solidFill>
              </a:rPr>
              <a:t>Nút nhắn tin &amp; gọi điện ngay trên từng thẻ khách hàng.</a:t>
            </a:r>
          </a:p>
        </p:txBody>
      </p:sp>
      <p:pic>
        <p:nvPicPr>
          <p:cNvPr id="7" name="Picture 6" descr="06_customer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072" y="411480"/>
            <a:ext cx="2788703" cy="6035040"/>
          </a:xfrm>
          <a:prstGeom prst="rect">
            <a:avLst/>
          </a:prstGeom>
          <a:ln w="12700">
            <a:solidFill>
              <a:srgbClr val="C9D6E4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777240" cy="777240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38912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2A4A"/>
                </a:solidFill>
              </a:rPr>
              <a:t>Chi tiết hồ sơ khách hàng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74066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Tab THÔNG TIN: </a:t>
            </a:r>
            <a:r>
              <a:rPr sz="1500" b="0">
                <a:solidFill>
                  <a:srgbClr val="28303C"/>
                </a:solidFill>
              </a:rPr>
              <a:t>SĐT, CCCD, ngày tạo, ô ghi chú tự do.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Tab HỒ SƠ ẢNH: </a:t>
            </a:r>
            <a:r>
              <a:rPr sz="1500" b="0">
                <a:solidFill>
                  <a:srgbClr val="28303C"/>
                </a:solidFill>
              </a:rPr>
              <a:t>chụp ảnh giấy tờ bằng camera trong app, xem phóng to.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Tab TÀI SẢN: </a:t>
            </a:r>
            <a:r>
              <a:rPr sz="1500" b="0">
                <a:solidFill>
                  <a:srgbClr val="28303C"/>
                </a:solidFill>
              </a:rPr>
              <a:t>danh sách tài sản bảo đảm của khách hàng.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0">
                <a:solidFill>
                  <a:srgbClr val="28303C"/>
                </a:solidFill>
              </a:rPr>
              <a:t>Nút Gọi / Zalo / chuyển trạng thái THẨM ĐỊNH ⇄ ĐÃ DUYỆT ngay trên đầu màn hình.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0">
                <a:solidFill>
                  <a:srgbClr val="28303C"/>
                </a:solidFill>
              </a:rPr>
              <a:t>Bút chì để sửa thông tin, thùng rác để xóa hồ sơ.</a:t>
            </a:r>
          </a:p>
        </p:txBody>
      </p:sp>
      <p:pic>
        <p:nvPicPr>
          <p:cNvPr id="7" name="Picture 6" descr="07_customer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072" y="411480"/>
            <a:ext cx="2788703" cy="6035040"/>
          </a:xfrm>
          <a:prstGeom prst="rect">
            <a:avLst/>
          </a:prstGeom>
          <a:ln w="12700">
            <a:solidFill>
              <a:srgbClr val="C9D6E4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777240" cy="777240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38912"/>
            <a:ext cx="48463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B2A4A"/>
                </a:solidFill>
              </a:rPr>
              <a:t>Chụp ảnh, nén ảnh &amp; quản lý ảnh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5394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Chụp trong app: </a:t>
            </a:r>
            <a:r>
              <a:rPr sz="1500" b="0">
                <a:solidFill>
                  <a:srgbClr val="28303C"/>
                </a:solidFill>
              </a:rPr>
              <a:t>nút “Chụp” mở camera (ưu tiên camera sau, tới ~1920px) — chụp giấy tờ nét.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Thêm từ thư viện: </a:t>
            </a:r>
            <a:r>
              <a:rPr sz="1500" b="0">
                <a:solidFill>
                  <a:srgbClr val="28303C"/>
                </a:solidFill>
              </a:rPr>
              <a:t>nút tải lên chọn nhiều ảnh cùng lúc.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Nén tự động: </a:t>
            </a:r>
            <a:r>
              <a:rPr sz="1500" b="0">
                <a:solidFill>
                  <a:srgbClr val="28303C"/>
                </a:solidFill>
              </a:rPr>
              <a:t>mọi ảnh thu về tối đa 2200px, ~500–700KB/ảnh — nét chữ mà nhẹ dung lượng.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Kho riêng: </a:t>
            </a:r>
            <a:r>
              <a:rPr sz="1500" b="0">
                <a:solidFill>
                  <a:srgbClr val="28303C"/>
                </a:solidFill>
              </a:rPr>
              <a:t>ảnh hồ sơ KH và “Kho Ảnh TSBĐ” của từng tài sản tách biệt nhau.</a:t>
            </a:r>
          </a:p>
        </p:txBody>
      </p:sp>
      <p:pic>
        <p:nvPicPr>
          <p:cNvPr id="7" name="Picture 6" descr="13b_select_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031" y="685800"/>
            <a:ext cx="2535185" cy="5486400"/>
          </a:xfrm>
          <a:prstGeom prst="rect">
            <a:avLst/>
          </a:prstGeom>
          <a:ln w="12700">
            <a:solidFill>
              <a:srgbClr val="C9D6E4"/>
            </a:solidFill>
          </a:ln>
        </p:spPr>
      </p:pic>
      <p:pic>
        <p:nvPicPr>
          <p:cNvPr id="8" name="Picture 7" descr="13_images_t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679" y="685800"/>
            <a:ext cx="2535185" cy="5486400"/>
          </a:xfrm>
          <a:prstGeom prst="rect">
            <a:avLst/>
          </a:prstGeom>
          <a:ln w="12700">
            <a:solidFill>
              <a:srgbClr val="C9D6E4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777240" cy="777240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38912"/>
            <a:ext cx="48463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B2A4A"/>
                </a:solidFill>
              </a:rPr>
              <a:t>Xem, gửi &amp; tải ảnh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5394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Xem phóng to: </a:t>
            </a:r>
            <a:r>
              <a:rPr sz="1500" b="0">
                <a:solidFill>
                  <a:srgbClr val="28303C"/>
                </a:solidFill>
              </a:rPr>
              <a:t>chạm ảnh mở lightbox — vuốt chuyển ảnh, nút chia sẻ, nút xóa.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Chọn nhiều: </a:t>
            </a:r>
            <a:r>
              <a:rPr sz="1500" b="0">
                <a:solidFill>
                  <a:srgbClr val="28303C"/>
                </a:solidFill>
              </a:rPr>
              <a:t>nhấn giữ 1 ảnh để vào chế độ chọn; thanh công cụ hiện số ảnh đã chọn.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Gửi / tải về: </a:t>
            </a:r>
            <a:r>
              <a:rPr sz="1500" b="0">
                <a:solidFill>
                  <a:srgbClr val="28303C"/>
                </a:solidFill>
              </a:rPr>
              <a:t>nút “Gửi” mở bảng chia sẻ hệ điều hành → Zalo, Email, hoặc “Lưu về máy”.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Lên Drive: </a:t>
            </a:r>
            <a:r>
              <a:rPr sz="1500" b="0">
                <a:solidFill>
                  <a:srgbClr val="28303C"/>
                </a:solidFill>
              </a:rPr>
              <a:t>nút “Up Drive” đẩy toàn bộ ảnh hồ sơ KH lên Google Drive cá nhân.</a:t>
            </a:r>
          </a:p>
        </p:txBody>
      </p:sp>
      <p:pic>
        <p:nvPicPr>
          <p:cNvPr id="7" name="Picture 6" descr="15_cam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031" y="685800"/>
            <a:ext cx="2535185" cy="5486400"/>
          </a:xfrm>
          <a:prstGeom prst="rect">
            <a:avLst/>
          </a:prstGeom>
          <a:ln w="12700">
            <a:solidFill>
              <a:srgbClr val="C9D6E4"/>
            </a:solidFill>
          </a:ln>
        </p:spPr>
      </p:pic>
      <p:pic>
        <p:nvPicPr>
          <p:cNvPr id="8" name="Picture 7" descr="14_light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679" y="685800"/>
            <a:ext cx="2535185" cy="5486400"/>
          </a:xfrm>
          <a:prstGeom prst="rect">
            <a:avLst/>
          </a:prstGeom>
          <a:ln w="12700">
            <a:solidFill>
              <a:srgbClr val="C9D6E4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777240" cy="777240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38912"/>
            <a:ext cx="48463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B2A4A"/>
                </a:solidFill>
              </a:rPr>
              <a:t>Thêm &amp; quản lý tài sản bảo đảm (TSBĐ)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5394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0">
                <a:solidFill>
                  <a:srgbClr val="28303C"/>
                </a:solidFill>
              </a:rPr>
              <a:t>Chi tiết KH → tab TÀI SẢN → “Thêm TSBĐ Mới”.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Nhập: </a:t>
            </a:r>
            <a:r>
              <a:rPr sz="1500" b="0">
                <a:solidFill>
                  <a:srgbClr val="28303C"/>
                </a:solidFill>
              </a:rPr>
              <a:t>Mô tả chính, Định giá (Trđ), Vay Max, Diện tích, Mặt tiền, Năm xây dựng, ghi chú.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Thẻ tài sản: </a:t>
            </a:r>
            <a:r>
              <a:rPr sz="1500" b="0">
                <a:solidFill>
                  <a:srgbClr val="28303C"/>
                </a:solidFill>
              </a:rPr>
              <a:t>nhãn diện tích/mặt tiền/năm, dòng ĐG &amp; Vay; nút sửa, xóa.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3 nút chức năng: </a:t>
            </a:r>
            <a:r>
              <a:rPr sz="1500" b="0">
                <a:solidFill>
                  <a:srgbClr val="28303C"/>
                </a:solidFill>
              </a:rPr>
              <a:t>Bản đồ (mở Google Maps), Tham khảo (so giá), Kho Ảnh TSBĐ.</a:t>
            </a:r>
          </a:p>
        </p:txBody>
      </p:sp>
      <p:pic>
        <p:nvPicPr>
          <p:cNvPr id="7" name="Picture 6" descr="08b_assets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031" y="685800"/>
            <a:ext cx="2535185" cy="5486400"/>
          </a:xfrm>
          <a:prstGeom prst="rect">
            <a:avLst/>
          </a:prstGeom>
          <a:ln w="12700">
            <a:solidFill>
              <a:srgbClr val="C9D6E4"/>
            </a:solidFill>
          </a:ln>
        </p:spPr>
      </p:pic>
      <p:pic>
        <p:nvPicPr>
          <p:cNvPr id="8" name="Picture 7" descr="08_asset_mo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679" y="685800"/>
            <a:ext cx="2535185" cy="5486400"/>
          </a:xfrm>
          <a:prstGeom prst="rect">
            <a:avLst/>
          </a:prstGeom>
          <a:ln w="12700">
            <a:solidFill>
              <a:srgbClr val="C9D6E4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777240" cy="777240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38912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2A4A"/>
                </a:solidFill>
              </a:rPr>
              <a:t>Định vị tài sản — lấy tọa độ GPS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74066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0">
                <a:solidFill>
                  <a:srgbClr val="28303C"/>
                </a:solidFill>
              </a:rPr>
              <a:t>Tọa độ để hiện marker trên bản đồ, mở Google Maps và bật được Tham khảo giá.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Cách 1 — GPS tại chỗ: </a:t>
            </a:r>
            <a:r>
              <a:rPr sz="1500" b="0">
                <a:solidFill>
                  <a:srgbClr val="28303C"/>
                </a:solidFill>
              </a:rPr>
              <a:t>đứng tại tài sản, nhấn nút ghim → app dò GPS đa tầng, tự điền tọa độ + báo sai số.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Cách 2 — Dán link: </a:t>
            </a:r>
            <a:r>
              <a:rPr sz="1500" b="0">
                <a:solidFill>
                  <a:srgbClr val="28303C"/>
                </a:solidFill>
              </a:rPr>
              <a:t>sao chép link Google Maps của vị trí và dán vào ô.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Cách 3 — Nhập thô: </a:t>
            </a:r>
            <a:r>
              <a:rPr sz="1500" b="0">
                <a:solidFill>
                  <a:srgbClr val="28303C"/>
                </a:solidFill>
              </a:rPr>
              <a:t>gõ “vĩ độ, kinh độ” (VD: 10.7411, 106.7220).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Nút “?”: </a:t>
            </a:r>
            <a:r>
              <a:rPr sz="1500" b="0">
                <a:solidFill>
                  <a:srgbClr val="28303C"/>
                </a:solidFill>
              </a:rPr>
              <a:t>mở hướng dẫn lấy tọa độ ngay trong app.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806440"/>
            <a:ext cx="7406640" cy="685800"/>
          </a:xfrm>
          <a:prstGeom prst="rect">
            <a:avLst/>
          </a:prstGeom>
          <a:solidFill>
            <a:srgbClr val="EF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64008"/>
          <a:lstStyle/>
          <a:p>
            <a:pPr algn="ctr"/>
            <a:r>
              <a:rPr sz="1250" i="1">
                <a:solidFill>
                  <a:srgbClr val="555D6B"/>
                </a:solidFill>
              </a:rPr>
              <a:t>💡 Cần cấp quyền vị trí và bật GPS; trong nhà kín tín hiệu có thể chậm hơn.</a:t>
            </a:r>
          </a:p>
        </p:txBody>
      </p:sp>
      <p:pic>
        <p:nvPicPr>
          <p:cNvPr id="8" name="Picture 7" descr="08_asset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072" y="411480"/>
            <a:ext cx="2788703" cy="6035040"/>
          </a:xfrm>
          <a:prstGeom prst="rect">
            <a:avLst/>
          </a:prstGeom>
          <a:ln w="12700">
            <a:solidFill>
              <a:srgbClr val="C9D6E4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777240" cy="777240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38912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2A4A"/>
                </a:solidFill>
              </a:rPr>
              <a:t>Tham khảo giá TSBĐ lân cận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74066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Cách dùng: </a:t>
            </a:r>
            <a:r>
              <a:rPr sz="1500" b="0">
                <a:solidFill>
                  <a:srgbClr val="28303C"/>
                </a:solidFill>
              </a:rPr>
              <a:t>mở thẻ tài sản (đã có tọa độ) → nhấn “Tham khảo”.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Kết quả: </a:t>
            </a:r>
            <a:r>
              <a:rPr sz="1500" b="0">
                <a:solidFill>
                  <a:srgbClr val="28303C"/>
                </a:solidFill>
              </a:rPr>
              <a:t>liệt kê tối đa 20 TSBĐ gần nhất — khoảng cách, định giá, diện tích, tên KH sở hữu.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Tức thời: </a:t>
            </a:r>
            <a:r>
              <a:rPr sz="1500" b="0">
                <a:solidFill>
                  <a:srgbClr val="28303C"/>
                </a:solidFill>
              </a:rPr>
              <a:t>xếp theo đường chim bay (haversine), không cần mạng.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Nâng cấp nền: </a:t>
            </a:r>
            <a:r>
              <a:rPr sz="1500" b="0">
                <a:solidFill>
                  <a:srgbClr val="28303C"/>
                </a:solidFill>
              </a:rPr>
              <a:t>có mạng thì thay bằng quãng đường đường bộ thực tế (OSRM) và sắp xếp lại.</a:t>
            </a:r>
          </a:p>
        </p:txBody>
      </p:sp>
      <p:pic>
        <p:nvPicPr>
          <p:cNvPr id="7" name="Picture 6" descr="12_ref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072" y="411480"/>
            <a:ext cx="2788703" cy="6035040"/>
          </a:xfrm>
          <a:prstGeom prst="rect">
            <a:avLst/>
          </a:prstGeom>
          <a:ln w="12700">
            <a:solidFill>
              <a:srgbClr val="C9D6E4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777240" cy="777240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38912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2A4A"/>
                </a:solidFill>
              </a:rPr>
              <a:t>Bản đồ &amp; chỉ đường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74066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0">
                <a:solidFill>
                  <a:srgbClr val="28303C"/>
                </a:solidFill>
              </a:rPr>
              <a:t>Mở từ Thao tác nhanh → “Bản đồ”.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Đổi lớp bản đồ: </a:t>
            </a:r>
            <a:r>
              <a:rPr sz="1500" b="0">
                <a:solidFill>
                  <a:srgbClr val="28303C"/>
                </a:solidFill>
              </a:rPr>
              <a:t>“Bản đồ tối” hoặc “Vệ tinh” (góc phải trên).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Nút định vị: </a:t>
            </a:r>
            <a:r>
              <a:rPr sz="1500" b="0">
                <a:solidFill>
                  <a:srgbClr val="28303C"/>
                </a:solidFill>
              </a:rPr>
              <a:t>quay về vị trí hiện tại của bạn (góc phải dưới).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0">
                <a:solidFill>
                  <a:srgbClr val="28303C"/>
                </a:solidFill>
              </a:rPr>
              <a:t>Khách hàng/tài sản có tọa độ sẽ hiện marker — chạm để xem thông tin &amp; chỉ đường.</a:t>
            </a:r>
          </a:p>
        </p:txBody>
      </p:sp>
      <p:pic>
        <p:nvPicPr>
          <p:cNvPr id="7" name="Picture 6" descr="09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072" y="411480"/>
            <a:ext cx="2788703" cy="6035040"/>
          </a:xfrm>
          <a:prstGeom prst="rect">
            <a:avLst/>
          </a:prstGeom>
          <a:ln w="12700">
            <a:solidFill>
              <a:srgbClr val="C9D6E4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777240" cy="777240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38912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2A4A"/>
                </a:solidFill>
              </a:rPr>
              <a:t>Menu cài đặt &amp; giao diện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74066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0">
                <a:solidFill>
                  <a:srgbClr val="28303C"/>
                </a:solidFill>
              </a:rPr>
              <a:t>Mở bằng nút bánh răng góc phải màn hình chính.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Giao diện: </a:t>
            </a:r>
            <a:r>
              <a:rPr sz="1500" b="0">
                <a:solidFill>
                  <a:srgbClr val="28303C"/>
                </a:solidFill>
              </a:rPr>
              <a:t>nhiều bộ màu (xanh ngân hàng, tối, hoàng hôn, đại dương…), đổi ngay và được ghi nhớ.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Bảo mật: </a:t>
            </a:r>
            <a:r>
              <a:rPr sz="1500" b="0">
                <a:solidFill>
                  <a:srgbClr val="28303C"/>
                </a:solidFill>
              </a:rPr>
              <a:t>bật Face ID / vân tay, đổi mã PIN.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Donate: </a:t>
            </a:r>
            <a:r>
              <a:rPr sz="1500" b="0">
                <a:solidFill>
                  <a:srgbClr val="28303C"/>
                </a:solidFill>
              </a:rPr>
              <a:t>ủng hộ tác giả ứng dụng.</a:t>
            </a:r>
          </a:p>
        </p:txBody>
      </p:sp>
      <p:pic>
        <p:nvPicPr>
          <p:cNvPr id="7" name="Picture 6" descr="10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072" y="411480"/>
            <a:ext cx="2788703" cy="6035040"/>
          </a:xfrm>
          <a:prstGeom prst="rect">
            <a:avLst/>
          </a:prstGeom>
          <a:ln w="12700">
            <a:solidFill>
              <a:srgbClr val="C9D6E4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777240" cy="777240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38912"/>
            <a:ext cx="48463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B2A4A"/>
                </a:solidFill>
              </a:rPr>
              <a:t>Sao lưu &amp; khôi phục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5394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Mã hóa: </a:t>
            </a:r>
            <a:r>
              <a:rPr sz="1500" b="0">
                <a:solidFill>
                  <a:srgbClr val="28303C"/>
                </a:solidFill>
              </a:rPr>
              <a:t>mọi bản backup mã hóa AES-GCM bằng khóa KDATA cấp riêng cho từng nhân viên.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Lên Drive: </a:t>
            </a:r>
            <a:r>
              <a:rPr sz="1500" b="0">
                <a:solidFill>
                  <a:srgbClr val="28303C"/>
                </a:solidFill>
              </a:rPr>
              <a:t>“Sao lưu lên Drive” (cần cấu hình Link GAS + token); app tự backup hằng ngày, giữ 3 bản.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Trong máy: </a:t>
            </a:r>
            <a:r>
              <a:rPr sz="1500" b="0">
                <a:solidFill>
                  <a:srgbClr val="28303C"/>
                </a:solidFill>
              </a:rPr>
              <a:t>“Tạo &amp; xuất file” ra .cpb; mỗi bản có nút Restore / Xuất file / Gửi / Xóa.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Khôi phục: </a:t>
            </a:r>
            <a:r>
              <a:rPr sz="1500" b="0">
                <a:solidFill>
                  <a:srgbClr val="28303C"/>
                </a:solidFill>
              </a:rPr>
              <a:t>“Nhập file .cpb”; app luôn hỏi xác nhận trước khi ghi đè.</a:t>
            </a:r>
          </a:p>
        </p:txBody>
      </p:sp>
      <p:pic>
        <p:nvPicPr>
          <p:cNvPr id="7" name="Picture 6" descr="16_backup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031" y="685800"/>
            <a:ext cx="2535185" cy="5486400"/>
          </a:xfrm>
          <a:prstGeom prst="rect">
            <a:avLst/>
          </a:prstGeom>
          <a:ln w="12700">
            <a:solidFill>
              <a:srgbClr val="C9D6E4"/>
            </a:solidFill>
          </a:ln>
        </p:spPr>
      </p:pic>
      <p:pic>
        <p:nvPicPr>
          <p:cNvPr id="8" name="Picture 7" descr="11_backup_mana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679" y="685800"/>
            <a:ext cx="2535185" cy="5486400"/>
          </a:xfrm>
          <a:prstGeom prst="rect">
            <a:avLst/>
          </a:prstGeom>
          <a:ln w="12700">
            <a:solidFill>
              <a:srgbClr val="C9D6E4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777240" cy="777240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38912"/>
            <a:ext cx="48463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B2A4A"/>
                </a:solidFill>
              </a:rPr>
              <a:t>Chuyển bản backup cho user khác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5394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Bên gửi: </a:t>
            </a:r>
            <a:r>
              <a:rPr sz="1500" b="0">
                <a:solidFill>
                  <a:srgbClr val="28303C"/>
                </a:solidFill>
              </a:rPr>
              <a:t>danh sách bản sao lưu → “Gửi” → chọn cán bộ nhận (theo tên/mã) → xác nhận.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Bên nhận: </a:t>
            </a:r>
            <a:r>
              <a:rPr sz="1500" b="0">
                <a:solidFill>
                  <a:srgbClr val="28303C"/>
                </a:solidFill>
              </a:rPr>
              <a:t>báo “Bạn đã nhận được bản ghi từ …” → “Nhận &amp; Restore”, hoặc vào “Nhận từ user”.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Bảo mật: </a:t>
            </a:r>
            <a:r>
              <a:rPr sz="1500" b="0">
                <a:solidFill>
                  <a:srgbClr val="28303C"/>
                </a:solidFill>
              </a:rPr>
              <a:t>chỉ user được cấp quyền mới giải mã được; bản ghi tự xóa sau 24 giờ.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Tiện: </a:t>
            </a:r>
            <a:r>
              <a:rPr sz="1500" b="0">
                <a:solidFill>
                  <a:srgbClr val="28303C"/>
                </a:solidFill>
              </a:rPr>
              <a:t>có thể chọn 1 vài KH để gửi một phần dữ liệu khi bàn giao hồ sơ.</a:t>
            </a:r>
          </a:p>
        </p:txBody>
      </p:sp>
      <p:pic>
        <p:nvPicPr>
          <p:cNvPr id="7" name="Picture 6" descr="18_in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031" y="685800"/>
            <a:ext cx="2535185" cy="5486400"/>
          </a:xfrm>
          <a:prstGeom prst="rect">
            <a:avLst/>
          </a:prstGeom>
          <a:ln w="12700">
            <a:solidFill>
              <a:srgbClr val="C9D6E4"/>
            </a:solidFill>
          </a:ln>
        </p:spPr>
      </p:pic>
      <p:pic>
        <p:nvPicPr>
          <p:cNvPr id="8" name="Picture 7" descr="17_send_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679" y="685800"/>
            <a:ext cx="2535185" cy="5486400"/>
          </a:xfrm>
          <a:prstGeom prst="rect">
            <a:avLst/>
          </a:prstGeom>
          <a:ln w="12700">
            <a:solidFill>
              <a:srgbClr val="C9D6E4"/>
            </a:solidFill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2A4A"/>
                </a:solidFill>
              </a:rPr>
              <a:t>Câu hỏi thường gặp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74066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Quên PIN? </a:t>
            </a:r>
            <a:r>
              <a:rPr sz="1500" b="0">
                <a:solidFill>
                  <a:srgbClr val="28303C"/>
                </a:solidFill>
              </a:rPr>
              <a:t>“Quên mã PIN?” + mã nhân viên → đặt PIN mới, không mất dữ liệu.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Mất mạng? </a:t>
            </a:r>
            <a:r>
              <a:rPr sz="1500" b="0">
                <a:solidFill>
                  <a:srgbClr val="28303C"/>
                </a:solidFill>
              </a:rPr>
              <a:t>App vẫn dùng bình thường; chỉ backup/bản đồ/thời tiết tạm dừng.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Xóa app có mất dữ liệu? </a:t>
            </a:r>
            <a:r>
              <a:rPr sz="1500" b="0">
                <a:solidFill>
                  <a:srgbClr val="28303C"/>
                </a:solidFill>
              </a:rPr>
              <a:t>Có, nếu chưa sao lưu — hãy bật auto-backup Drive.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Gửi backup cho đồng nghiệp? </a:t>
            </a:r>
            <a:r>
              <a:rPr sz="1500" b="0">
                <a:solidFill>
                  <a:srgbClr val="28303C"/>
                </a:solidFill>
              </a:rPr>
              <a:t>Dùng nút “Gửi” — chỉ user được cấp quyền mới mở được, tự xóa sau 24h.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05B9F"/>
                </a:solidFill>
              </a:rPr>
              <a:t>▪ </a:t>
            </a:r>
            <a:r>
              <a:rPr sz="1500" b="1">
                <a:solidFill>
                  <a:srgbClr val="28303C"/>
                </a:solidFill>
              </a:rPr>
              <a:t>Đổi điện thoại? </a:t>
            </a:r>
            <a:r>
              <a:rPr sz="1500" b="0">
                <a:solidFill>
                  <a:srgbClr val="28303C"/>
                </a:solidFill>
              </a:rPr>
              <a:t>Khôi phục từ Drive / file .cpb / “Nhận từ user”; nhờ quản trị viên cấp quyền máy mới.</a:t>
            </a:r>
          </a:p>
        </p:txBody>
      </p:sp>
      <p:pic>
        <p:nvPicPr>
          <p:cNvPr id="6" name="Picture 5" descr="06_customer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072" y="411480"/>
            <a:ext cx="2788703" cy="6035040"/>
          </a:xfrm>
          <a:prstGeom prst="rect">
            <a:avLst/>
          </a:prstGeom>
          <a:ln w="12700">
            <a:solidFill>
              <a:srgbClr val="C9D6E4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DA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</a:rPr>
              <a:t>Ghi nhớ 3 điều quan trọng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200400"/>
            <a:ext cx="82296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1. Bật tự động sao lưu Google Drive ngay sau khi cài đặt.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2. Nhập chính xác mã nhân viên — chìa khóa duy nhất khi quên PIN.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3. Chuyển dữ liệu cho đồng nghiệp bằng chức năng “Gửi” trong Backup.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FB8D0"/>
                </a:solidFill>
              </a:rPr>
              <a:t>ClientPro — Tài liệu hướng dẫn sử dụng • 07/2026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